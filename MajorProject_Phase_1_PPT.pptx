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15"/>
  </p:notesMasterIdLst>
  <p:sldIdLst>
    <p:sldId id="3850" r:id="rId3"/>
    <p:sldId id="3836" r:id="rId4"/>
    <p:sldId id="303" r:id="rId5"/>
    <p:sldId id="3841" r:id="rId6"/>
    <p:sldId id="3842" r:id="rId7"/>
    <p:sldId id="3837" r:id="rId8"/>
    <p:sldId id="3844" r:id="rId9"/>
    <p:sldId id="3838" r:id="rId10"/>
    <p:sldId id="3843" r:id="rId11"/>
    <p:sldId id="3846" r:id="rId12"/>
    <p:sldId id="3845" r:id="rId13"/>
    <p:sldId id="383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D4C0D-9369-4680-A7BD-917F88E868CE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FE46-EE5E-4CE3-94D3-C186319A8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676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52333" y="719333"/>
            <a:ext cx="6452800" cy="50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10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52333" y="5782833"/>
            <a:ext cx="5300800" cy="4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941099" y="1"/>
            <a:ext cx="10299935" cy="5335632"/>
            <a:chOff x="705824" y="1"/>
            <a:chExt cx="7724951" cy="4001724"/>
          </a:xfrm>
        </p:grpSpPr>
        <p:sp>
          <p:nvSpPr>
            <p:cNvPr id="12" name="Google Shape;12;p2"/>
            <p:cNvSpPr/>
            <p:nvPr/>
          </p:nvSpPr>
          <p:spPr>
            <a:xfrm>
              <a:off x="705824" y="3306025"/>
              <a:ext cx="695700" cy="695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735075" y="1"/>
              <a:ext cx="695700" cy="171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8385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0" y="-67"/>
            <a:ext cx="12192000" cy="6858000"/>
            <a:chOff x="0" y="-50"/>
            <a:chExt cx="9144000" cy="5143500"/>
          </a:xfrm>
        </p:grpSpPr>
        <p:sp>
          <p:nvSpPr>
            <p:cNvPr id="25" name="Google Shape;25;p5"/>
            <p:cNvSpPr/>
            <p:nvPr/>
          </p:nvSpPr>
          <p:spPr>
            <a:xfrm>
              <a:off x="4572000" y="-50"/>
              <a:ext cx="4572000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0" y="-50"/>
              <a:ext cx="4572000" cy="51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5"/>
            <p:cNvSpPr/>
            <p:nvPr/>
          </p:nvSpPr>
          <p:spPr>
            <a:xfrm>
              <a:off x="3876312" y="539500"/>
              <a:ext cx="695700" cy="69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6920633" y="3489333"/>
            <a:ext cx="4320400" cy="13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950951" y="3490500"/>
            <a:ext cx="4320400" cy="13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6920633" y="2443133"/>
            <a:ext cx="4320400" cy="110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950951" y="2441967"/>
            <a:ext cx="4320400" cy="110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 sz="3733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049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ctrTitle"/>
          </p:nvPr>
        </p:nvSpPr>
        <p:spPr>
          <a:xfrm>
            <a:off x="1833233" y="555139"/>
            <a:ext cx="85204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838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3762667" y="0"/>
            <a:ext cx="927600" cy="34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>
            <a:off x="5495867" y="3787852"/>
            <a:ext cx="5737200" cy="23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467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ctrTitle"/>
          </p:nvPr>
        </p:nvSpPr>
        <p:spPr>
          <a:xfrm>
            <a:off x="4252333" y="453900"/>
            <a:ext cx="5457600" cy="297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7"/>
          <p:cNvSpPr/>
          <p:nvPr/>
        </p:nvSpPr>
        <p:spPr>
          <a:xfrm>
            <a:off x="950965" y="4821135"/>
            <a:ext cx="927600" cy="92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2860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2630433" y="2318767"/>
            <a:ext cx="6931200" cy="2220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6400" b="1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8"/>
          <p:cNvSpPr/>
          <p:nvPr/>
        </p:nvSpPr>
        <p:spPr>
          <a:xfrm flipH="1">
            <a:off x="5632184" y="719333"/>
            <a:ext cx="927600" cy="9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5755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ctrTitle"/>
          </p:nvPr>
        </p:nvSpPr>
        <p:spPr>
          <a:xfrm>
            <a:off x="1833233" y="555139"/>
            <a:ext cx="85204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799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634967" y="982433"/>
            <a:ext cx="2098000" cy="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 sz="32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2"/>
          </p:nvPr>
        </p:nvSpPr>
        <p:spPr>
          <a:xfrm>
            <a:off x="1634968" y="1837501"/>
            <a:ext cx="23224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733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5327600" y="982433"/>
            <a:ext cx="2098000" cy="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 sz="32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4"/>
          </p:nvPr>
        </p:nvSpPr>
        <p:spPr>
          <a:xfrm>
            <a:off x="5327595" y="1837492"/>
            <a:ext cx="23224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733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9020233" y="982433"/>
            <a:ext cx="2098000" cy="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 sz="32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6"/>
          </p:nvPr>
        </p:nvSpPr>
        <p:spPr>
          <a:xfrm>
            <a:off x="9020223" y="1837492"/>
            <a:ext cx="23224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733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1634968" y="3980733"/>
            <a:ext cx="2098000" cy="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 sz="32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1634967" y="4835799"/>
            <a:ext cx="23224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733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5327600" y="3980733"/>
            <a:ext cx="2098000" cy="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 sz="32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5327595" y="4835799"/>
            <a:ext cx="23224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733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9020239" y="3980733"/>
            <a:ext cx="2098000" cy="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Josefin Sans"/>
              <a:buNone/>
              <a:defRPr sz="32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Josefin Sans"/>
              <a:buNone/>
              <a:defRPr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9020223" y="4835799"/>
            <a:ext cx="23224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733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Josefin Slab"/>
              <a:buNone/>
              <a:defRPr sz="1467">
                <a:solidFill>
                  <a:srgbClr val="434343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144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950900" y="1290900"/>
            <a:ext cx="10290000" cy="285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14"/>
          <p:cNvSpPr txBox="1">
            <a:spLocks noGrp="1"/>
          </p:cNvSpPr>
          <p:nvPr>
            <p:ph type="ctrTitle"/>
          </p:nvPr>
        </p:nvSpPr>
        <p:spPr>
          <a:xfrm>
            <a:off x="1833233" y="555139"/>
            <a:ext cx="85204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1437767" y="2861700"/>
            <a:ext cx="18548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2"/>
          </p:nvPr>
        </p:nvSpPr>
        <p:spPr>
          <a:xfrm>
            <a:off x="950967" y="4638567"/>
            <a:ext cx="2828400" cy="14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7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3"/>
          </p:nvPr>
        </p:nvSpPr>
        <p:spPr>
          <a:xfrm>
            <a:off x="5168625" y="2861700"/>
            <a:ext cx="18548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4"/>
          </p:nvPr>
        </p:nvSpPr>
        <p:spPr>
          <a:xfrm>
            <a:off x="4681825" y="4638567"/>
            <a:ext cx="2828400" cy="14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7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5"/>
          </p:nvPr>
        </p:nvSpPr>
        <p:spPr>
          <a:xfrm>
            <a:off x="8899467" y="2861700"/>
            <a:ext cx="18548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efin Sans"/>
              <a:buNone/>
              <a:defRPr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6"/>
          </p:nvPr>
        </p:nvSpPr>
        <p:spPr>
          <a:xfrm>
            <a:off x="8412667" y="4638567"/>
            <a:ext cx="2828400" cy="14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7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Josefin Slab"/>
              <a:buNone/>
              <a:defRPr sz="1467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659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ctrTitle"/>
          </p:nvPr>
        </p:nvSpPr>
        <p:spPr>
          <a:xfrm>
            <a:off x="2467400" y="4916467"/>
            <a:ext cx="7257200" cy="66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867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1"/>
          </p:nvPr>
        </p:nvSpPr>
        <p:spPr>
          <a:xfrm>
            <a:off x="2467400" y="2688967"/>
            <a:ext cx="7257200" cy="169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2298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dk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 hasCustomPrompt="1"/>
          </p:nvPr>
        </p:nvSpPr>
        <p:spPr>
          <a:xfrm>
            <a:off x="1330633" y="894133"/>
            <a:ext cx="9522800" cy="1121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3524033" y="2202133"/>
            <a:ext cx="5135600" cy="11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 idx="2" hasCustomPrompt="1"/>
          </p:nvPr>
        </p:nvSpPr>
        <p:spPr>
          <a:xfrm>
            <a:off x="1338700" y="3927967"/>
            <a:ext cx="4369600" cy="1078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3"/>
          </p:nvPr>
        </p:nvSpPr>
        <p:spPr>
          <a:xfrm>
            <a:off x="1338700" y="5214700"/>
            <a:ext cx="4369600" cy="11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title" idx="4" hasCustomPrompt="1"/>
          </p:nvPr>
        </p:nvSpPr>
        <p:spPr>
          <a:xfrm>
            <a:off x="6483733" y="3927967"/>
            <a:ext cx="4369600" cy="1078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5"/>
          </p:nvPr>
        </p:nvSpPr>
        <p:spPr>
          <a:xfrm>
            <a:off x="6483751" y="5214700"/>
            <a:ext cx="4369600" cy="11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023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dk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ctrTitle"/>
          </p:nvPr>
        </p:nvSpPr>
        <p:spPr>
          <a:xfrm>
            <a:off x="1833233" y="555139"/>
            <a:ext cx="85204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1"/>
          </p:nvPr>
        </p:nvSpPr>
        <p:spPr>
          <a:xfrm>
            <a:off x="950967" y="2105833"/>
            <a:ext cx="2074000" cy="770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2"/>
          </p:nvPr>
        </p:nvSpPr>
        <p:spPr>
          <a:xfrm>
            <a:off x="950967" y="2971300"/>
            <a:ext cx="28816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3"/>
          </p:nvPr>
        </p:nvSpPr>
        <p:spPr>
          <a:xfrm>
            <a:off x="9167033" y="2105833"/>
            <a:ext cx="2074000" cy="770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4"/>
          </p:nvPr>
        </p:nvSpPr>
        <p:spPr>
          <a:xfrm>
            <a:off x="8359267" y="2971300"/>
            <a:ext cx="28816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5"/>
          </p:nvPr>
        </p:nvSpPr>
        <p:spPr>
          <a:xfrm>
            <a:off x="950967" y="3859743"/>
            <a:ext cx="2074000" cy="770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6"/>
          </p:nvPr>
        </p:nvSpPr>
        <p:spPr>
          <a:xfrm>
            <a:off x="950967" y="4725200"/>
            <a:ext cx="28816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7"/>
          </p:nvPr>
        </p:nvSpPr>
        <p:spPr>
          <a:xfrm>
            <a:off x="9167033" y="3859743"/>
            <a:ext cx="2074000" cy="770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8"/>
          </p:nvPr>
        </p:nvSpPr>
        <p:spPr>
          <a:xfrm>
            <a:off x="8359296" y="4725200"/>
            <a:ext cx="28816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0369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ctrTitle"/>
          </p:nvPr>
        </p:nvSpPr>
        <p:spPr>
          <a:xfrm>
            <a:off x="1833233" y="555139"/>
            <a:ext cx="85204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ubTitle" idx="1"/>
          </p:nvPr>
        </p:nvSpPr>
        <p:spPr>
          <a:xfrm>
            <a:off x="950947" y="2105833"/>
            <a:ext cx="4404400" cy="770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2"/>
          </p:nvPr>
        </p:nvSpPr>
        <p:spPr>
          <a:xfrm>
            <a:off x="950967" y="2971300"/>
            <a:ext cx="44044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3"/>
          </p:nvPr>
        </p:nvSpPr>
        <p:spPr>
          <a:xfrm>
            <a:off x="6836732" y="2105833"/>
            <a:ext cx="4404400" cy="770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4"/>
          </p:nvPr>
        </p:nvSpPr>
        <p:spPr>
          <a:xfrm>
            <a:off x="6836776" y="2971300"/>
            <a:ext cx="44044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5"/>
          </p:nvPr>
        </p:nvSpPr>
        <p:spPr>
          <a:xfrm>
            <a:off x="950947" y="4411800"/>
            <a:ext cx="4404400" cy="770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6"/>
          </p:nvPr>
        </p:nvSpPr>
        <p:spPr>
          <a:xfrm>
            <a:off x="950967" y="5277267"/>
            <a:ext cx="44044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7"/>
          </p:nvPr>
        </p:nvSpPr>
        <p:spPr>
          <a:xfrm>
            <a:off x="6836732" y="4411800"/>
            <a:ext cx="4404400" cy="770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osefin Sans"/>
              <a:buNone/>
              <a:defRPr sz="40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None/>
              <a:defRPr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8"/>
          </p:nvPr>
        </p:nvSpPr>
        <p:spPr>
          <a:xfrm>
            <a:off x="6836776" y="5277267"/>
            <a:ext cx="4404400" cy="6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7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lab"/>
              <a:buNone/>
              <a:defRPr sz="1467">
                <a:solidFill>
                  <a:schemeClr val="dk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125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ctrTitle"/>
          </p:nvPr>
        </p:nvSpPr>
        <p:spPr>
          <a:xfrm>
            <a:off x="1833233" y="555139"/>
            <a:ext cx="85204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None/>
              <a:defRPr sz="3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1"/>
          </p:nvPr>
        </p:nvSpPr>
        <p:spPr>
          <a:xfrm>
            <a:off x="1010745" y="2485617"/>
            <a:ext cx="27188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2"/>
          </p:nvPr>
        </p:nvSpPr>
        <p:spPr>
          <a:xfrm>
            <a:off x="1010745" y="5413567"/>
            <a:ext cx="27188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3"/>
          </p:nvPr>
        </p:nvSpPr>
        <p:spPr>
          <a:xfrm>
            <a:off x="8457324" y="3949617"/>
            <a:ext cx="27188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4"/>
          </p:nvPr>
        </p:nvSpPr>
        <p:spPr>
          <a:xfrm>
            <a:off x="8457324" y="2485616"/>
            <a:ext cx="27188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5"/>
          </p:nvPr>
        </p:nvSpPr>
        <p:spPr>
          <a:xfrm>
            <a:off x="1010745" y="3949616"/>
            <a:ext cx="27188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6"/>
          </p:nvPr>
        </p:nvSpPr>
        <p:spPr>
          <a:xfrm>
            <a:off x="8457324" y="5413600"/>
            <a:ext cx="27188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7"/>
          </p:nvPr>
        </p:nvSpPr>
        <p:spPr>
          <a:xfrm>
            <a:off x="1010745" y="1753651"/>
            <a:ext cx="2718800" cy="7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8"/>
          </p:nvPr>
        </p:nvSpPr>
        <p:spPr>
          <a:xfrm>
            <a:off x="1010745" y="4681600"/>
            <a:ext cx="27188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9"/>
          </p:nvPr>
        </p:nvSpPr>
        <p:spPr>
          <a:xfrm>
            <a:off x="8457324" y="3217621"/>
            <a:ext cx="2718800" cy="73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13"/>
          </p:nvPr>
        </p:nvSpPr>
        <p:spPr>
          <a:xfrm>
            <a:off x="8457324" y="1753651"/>
            <a:ext cx="2718800" cy="7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14"/>
          </p:nvPr>
        </p:nvSpPr>
        <p:spPr>
          <a:xfrm>
            <a:off x="1010745" y="3217621"/>
            <a:ext cx="2718800" cy="73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15"/>
          </p:nvPr>
        </p:nvSpPr>
        <p:spPr>
          <a:xfrm>
            <a:off x="8457324" y="4681605"/>
            <a:ext cx="27188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21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0"/>
          <p:cNvGrpSpPr/>
          <p:nvPr/>
        </p:nvGrpSpPr>
        <p:grpSpPr>
          <a:xfrm flipH="1">
            <a:off x="941099" y="1"/>
            <a:ext cx="10299935" cy="5335632"/>
            <a:chOff x="705824" y="1"/>
            <a:chExt cx="7724951" cy="4001724"/>
          </a:xfrm>
        </p:grpSpPr>
        <p:sp>
          <p:nvSpPr>
            <p:cNvPr id="122" name="Google Shape;122;p20"/>
            <p:cNvSpPr/>
            <p:nvPr/>
          </p:nvSpPr>
          <p:spPr>
            <a:xfrm>
              <a:off x="705824" y="3306025"/>
              <a:ext cx="695700" cy="695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20"/>
            <p:cNvSpPr/>
            <p:nvPr/>
          </p:nvSpPr>
          <p:spPr>
            <a:xfrm>
              <a:off x="7735075" y="1"/>
              <a:ext cx="695700" cy="171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4" name="Google Shape;124;p20"/>
          <p:cNvSpPr txBox="1">
            <a:spLocks noGrp="1"/>
          </p:cNvSpPr>
          <p:nvPr>
            <p:ph type="ctrTitle"/>
          </p:nvPr>
        </p:nvSpPr>
        <p:spPr>
          <a:xfrm>
            <a:off x="3524540" y="1294733"/>
            <a:ext cx="44912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96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6933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959067" y="4914667"/>
            <a:ext cx="5468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Spartan"/>
                <a:ea typeface="Spartan"/>
                <a:cs typeface="Spartan"/>
                <a:sym typeface="Spartan"/>
              </a:rPr>
              <a:t>CREDITS: This presentation template was created by </a:t>
            </a:r>
            <a:r>
              <a:rPr lang="en" sz="1333">
                <a:solidFill>
                  <a:schemeClr val="dk1"/>
                </a:solidFill>
                <a:uFill>
                  <a:noFill/>
                </a:uFill>
                <a:latin typeface="Spartan"/>
                <a:ea typeface="Spartan"/>
                <a:cs typeface="Spartan"/>
                <a:sym typeface="Spart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Spartan"/>
                <a:ea typeface="Spartan"/>
                <a:cs typeface="Spartan"/>
                <a:sym typeface="Spartan"/>
              </a:rPr>
              <a:t>, including icons by </a:t>
            </a:r>
            <a:r>
              <a:rPr lang="en" sz="1333">
                <a:solidFill>
                  <a:schemeClr val="dk1"/>
                </a:solidFill>
                <a:uFill>
                  <a:noFill/>
                </a:uFill>
                <a:latin typeface="Spartan"/>
                <a:ea typeface="Spartan"/>
                <a:cs typeface="Spartan"/>
                <a:sym typeface="Spart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Spartan"/>
                <a:ea typeface="Spartan"/>
                <a:cs typeface="Spartan"/>
                <a:sym typeface="Spartan"/>
              </a:rPr>
              <a:t>, and infographics &amp; images by </a:t>
            </a:r>
            <a:r>
              <a:rPr lang="en" sz="1333">
                <a:solidFill>
                  <a:schemeClr val="dk1"/>
                </a:solidFill>
                <a:uFill>
                  <a:noFill/>
                </a:uFill>
                <a:latin typeface="Spartan"/>
                <a:ea typeface="Spartan"/>
                <a:cs typeface="Spartan"/>
                <a:sym typeface="Spart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>
              <a:solidFill>
                <a:schemeClr val="dk1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1"/>
          </p:nvPr>
        </p:nvSpPr>
        <p:spPr>
          <a:xfrm>
            <a:off x="959067" y="2841600"/>
            <a:ext cx="4386800" cy="18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2207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0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000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09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lt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989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09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05535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759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31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197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644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3273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8886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009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2417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3749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556193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200758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873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971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775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64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ebas Neue"/>
              <a:buNone/>
              <a:defRPr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rtan Medium"/>
              <a:buChar char="●"/>
              <a:defRPr sz="1800"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rtan Medium"/>
              <a:buChar char="○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rtan Medium"/>
              <a:buChar char="■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rtan Medium"/>
              <a:buChar char="●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rtan Medium"/>
              <a:buChar char="○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rtan Medium"/>
              <a:buChar char="■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rtan Medium"/>
              <a:buChar char="●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rtan Medium"/>
              <a:buChar char="○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partan Medium"/>
              <a:buChar char="■"/>
              <a:defRPr>
                <a:solidFill>
                  <a:schemeClr val="lt1"/>
                </a:solidFill>
                <a:latin typeface="Spartan Medium"/>
                <a:ea typeface="Spartan Medium"/>
                <a:cs typeface="Spartan Medium"/>
                <a:sym typeface="Spartan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89449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8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2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3C65-A12E-28C3-0179-52DDE3B76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75" y="2105172"/>
            <a:ext cx="11451770" cy="3113751"/>
          </a:xfrm>
          <a:noFill/>
          <a:ln>
            <a:noFill/>
          </a:ln>
          <a:effectLst>
            <a:glow rad="63500">
              <a:schemeClr val="accent2">
                <a:alpha val="40000"/>
              </a:schemeClr>
            </a:glow>
            <a:reflection stA="52000" endA="300" endPos="0" dir="5400000" sy="-100000" algn="bl" rotWithShape="0"/>
          </a:effectLst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MAJOR PROJECT PRESENTATION ON</a:t>
            </a:r>
            <a:b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2800" b="1" kern="1200" dirty="0">
                <a:solidFill>
                  <a:schemeClr val="tx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"/>
              </a:rPr>
              <a:t>STUDENT PERFORMANCE PREDICTION APPRAOCH BASED ON EDUCATIONAL DATA MINING  </a:t>
            </a:r>
            <a:br>
              <a:rPr lang="en-US" sz="2800" b="1" kern="1200" dirty="0">
                <a:solidFill>
                  <a:srgbClr val="112349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"/>
              </a:rPr>
            </a:br>
            <a:endParaRPr 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2C77B-2E83-2D7A-7DD3-D37268816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8474" y="4855029"/>
            <a:ext cx="2569028" cy="1870697"/>
          </a:xfrm>
          <a:noFill/>
          <a:ln>
            <a:noFill/>
          </a:ln>
          <a:effectLst>
            <a:softEdge rad="0"/>
          </a:effectLst>
          <a:scene3d>
            <a:camera prst="orthographicFront"/>
            <a:lightRig rig="threePt" dir="t"/>
          </a:scene3d>
          <a:sp3d contourW="12700">
            <a:contourClr>
              <a:schemeClr val="bg1">
                <a:lumMod val="95000"/>
              </a:schemeClr>
            </a:contourClr>
          </a:sp3d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400" dirty="0"/>
              <a:t>  </a:t>
            </a:r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PRENSENTED BY :</a:t>
            </a:r>
          </a:p>
          <a:p>
            <a:pPr lvl="1" algn="l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B21IT034</a:t>
            </a:r>
          </a:p>
          <a:p>
            <a:pPr lvl="1" algn="l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B21IT053</a:t>
            </a:r>
          </a:p>
          <a:p>
            <a:pPr lvl="1" algn="l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B21IT033</a:t>
            </a:r>
          </a:p>
          <a:p>
            <a:pPr lvl="1" algn="l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B21IT040</a:t>
            </a:r>
          </a:p>
        </p:txBody>
      </p:sp>
      <p:pic>
        <p:nvPicPr>
          <p:cNvPr id="4" name="Picture 3" descr="Text">
            <a:extLst>
              <a:ext uri="{FF2B5EF4-FFF2-40B4-BE49-F238E27FC236}">
                <a16:creationId xmlns:a16="http://schemas.microsoft.com/office/drawing/2014/main" id="{A6239A90-8BEA-E4C6-C029-328FB1BA4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43" y="0"/>
            <a:ext cx="10319657" cy="1741278"/>
          </a:xfrm>
          <a:prstGeom prst="rect">
            <a:avLst/>
          </a:prstGeom>
        </p:spPr>
      </p:pic>
      <p:pic>
        <p:nvPicPr>
          <p:cNvPr id="5" name="Picture 4" descr="A close-up of a coin&#10;&#10;Description automatically generated with low confidence">
            <a:extLst>
              <a:ext uri="{FF2B5EF4-FFF2-40B4-BE49-F238E27FC236}">
                <a16:creationId xmlns:a16="http://schemas.microsoft.com/office/drawing/2014/main" id="{2FB016CA-B45F-F3FB-ED26-502A9BD03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72341" cy="17412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48BD92-6EA7-4C1F-C227-DD18611CB210}"/>
              </a:ext>
            </a:extLst>
          </p:cNvPr>
          <p:cNvSpPr txBox="1"/>
          <p:nvPr/>
        </p:nvSpPr>
        <p:spPr>
          <a:xfrm>
            <a:off x="1001486" y="4980856"/>
            <a:ext cx="2013858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        </a:t>
            </a: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Mr. Gautam Rampalli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Associate Professor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Dept of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60350-CF16-A07C-3F40-47E9FC5DC484}"/>
              </a:ext>
            </a:extLst>
          </p:cNvPr>
          <p:cNvSpPr txBox="1"/>
          <p:nvPr/>
        </p:nvSpPr>
        <p:spPr>
          <a:xfrm>
            <a:off x="4969328" y="4921553"/>
            <a:ext cx="2253344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</a:rPr>
              <a:t>           </a:t>
            </a: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Mr. M. Kishore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Assistant Professor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Dept of IT</a:t>
            </a:r>
          </a:p>
          <a:p>
            <a:pPr>
              <a:lnSpc>
                <a:spcPct val="150000"/>
              </a:lnSpc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4536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3E68B2F-A642-FCFF-C148-2B3D08D111F7}"/>
              </a:ext>
            </a:extLst>
          </p:cNvPr>
          <p:cNvSpPr/>
          <p:nvPr/>
        </p:nvSpPr>
        <p:spPr>
          <a:xfrm>
            <a:off x="5301380" y="1444521"/>
            <a:ext cx="6533003" cy="349234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accent6"/>
                </a:solidFill>
              </a:rPr>
              <a:t>Find the best way to pick students who will do well, test how well pre-admission tests predict success, compare different ways of analyzing data, and see if focusing on key criteria helps students do better.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A4F0A20-6B38-F8BE-BF8B-EB93162E32E7}"/>
              </a:ext>
            </a:extLst>
          </p:cNvPr>
          <p:cNvSpPr/>
          <p:nvPr/>
        </p:nvSpPr>
        <p:spPr>
          <a:xfrm>
            <a:off x="492400" y="2693624"/>
            <a:ext cx="4360499" cy="994140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10000"/>
                  </a:schemeClr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46175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94A43-646C-0E3B-6C5E-296ACF584C5E}"/>
              </a:ext>
            </a:extLst>
          </p:cNvPr>
          <p:cNvSpPr txBox="1"/>
          <p:nvPr/>
        </p:nvSpPr>
        <p:spPr>
          <a:xfrm>
            <a:off x="1505294" y="634979"/>
            <a:ext cx="85204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/>
          <a:p>
            <a:pPr algn="ctr">
              <a:spcAft>
                <a:spcPts val="600"/>
              </a:spcAft>
              <a:buClr>
                <a:srgbClr val="F3F3F3"/>
              </a:buClr>
              <a:buSzPts val="2400"/>
            </a:pPr>
            <a:r>
              <a:rPr lang="en-IN" sz="3200" dirty="0">
                <a:solidFill>
                  <a:srgbClr val="C00000"/>
                </a:solidFill>
                <a:latin typeface="Bebas Neue"/>
                <a:ea typeface="Bebas Neue"/>
                <a:cs typeface="Bebas Neue"/>
                <a:sym typeface="Bebas Neue"/>
              </a:rPr>
              <a:t>ABSTRACT</a:t>
            </a:r>
            <a:endParaRPr lang="en-IN" sz="3200" b="0" i="0" u="none" strike="noStrike" cap="none" dirty="0">
              <a:solidFill>
                <a:srgbClr val="C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28A1D-3C67-D9C0-E180-CED8CCF6A761}"/>
              </a:ext>
            </a:extLst>
          </p:cNvPr>
          <p:cNvSpPr txBox="1"/>
          <p:nvPr/>
        </p:nvSpPr>
        <p:spPr>
          <a:xfrm>
            <a:off x="1226598" y="1529527"/>
            <a:ext cx="97388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Significance of Admission Process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The admission process in higher education institutions plays a pivotal role in selecting academically promising candidates.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Predictive Data Mining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Utilizing predictive data mining as a powerful tool to analyze data, including test scores, grades, and extracurricular activities.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Informed Admissions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Predictive data mining algorithms identify patterns and predict which students are likely to succeed in college, aiding universities in making more informed admission decisions.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Positive Impact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Informed admissions can lead to higher graduation rates and improved outcomes for students, ensuring they thrive in the academic environment.</a:t>
            </a:r>
          </a:p>
        </p:txBody>
      </p:sp>
    </p:spTree>
    <p:extLst>
      <p:ext uri="{BB962C8B-B14F-4D97-AF65-F5344CB8AC3E}">
        <p14:creationId xmlns:p14="http://schemas.microsoft.com/office/powerpoint/2010/main" val="97220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36DA-8886-A9DB-B24A-4C4DB7BA6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MODULES  AND  </a:t>
            </a:r>
            <a:r>
              <a:rPr lang="en-IN" dirty="0" err="1">
                <a:solidFill>
                  <a:srgbClr val="C00000"/>
                </a:solidFill>
              </a:rPr>
              <a:t>FUNCTioNALITIES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0DA66-1D50-9172-62E4-BB9A9E86565A}"/>
              </a:ext>
            </a:extLst>
          </p:cNvPr>
          <p:cNvSpPr txBox="1"/>
          <p:nvPr/>
        </p:nvSpPr>
        <p:spPr>
          <a:xfrm>
            <a:off x="928688" y="1657350"/>
            <a:ext cx="107870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and Preprocessing</a:t>
            </a: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: </a:t>
            </a:r>
            <a:r>
              <a: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Gather relevant data from various sources, ensuring its accuracy and reliability. Preprocess the data to clean, transform, and organize it for further analysis.</a:t>
            </a:r>
            <a:endParaRPr lang="en-US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Pre-admission Test Score Analysis: </a:t>
            </a:r>
            <a:r>
              <a:rPr lang="en-US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the relationship between pre-admission test scores and subsequent academic performance. Analyze the predictive power of these scores in determining students' success in their academic endeavors.</a:t>
            </a:r>
          </a:p>
          <a:p>
            <a:endParaRPr lang="en-US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Mining Model Implementation</a:t>
            </a:r>
            <a:r>
              <a:rPr lang="en-IN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Implement various data mining models, such as Artificial Neural Network (ANN), Decision Trees (DT), and Support Vector Machines (SVM), to identify patterns and make predictions based on the collected data.</a:t>
            </a:r>
            <a:endParaRPr lang="en-US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872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75A3-BE8C-CB6A-6B28-48333AD26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Modules and functionalities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3EE0C-8906-7172-3B8F-868FCDB4B471}"/>
              </a:ext>
            </a:extLst>
          </p:cNvPr>
          <p:cNvSpPr txBox="1"/>
          <p:nvPr/>
        </p:nvSpPr>
        <p:spPr>
          <a:xfrm>
            <a:off x="1133146" y="1714500"/>
            <a:ext cx="94440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Performance Analysis</a:t>
            </a:r>
            <a:r>
              <a:rPr lang="en-US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Compare the performance of the different data mining models to determine which one provides the most accurate predictions for student performance based on the available data.</a:t>
            </a:r>
          </a:p>
          <a:p>
            <a:pPr algn="l"/>
            <a:endParaRPr lang="en-US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Weighting and Impact Analysis of Admission Criteria: </a:t>
            </a:r>
            <a:r>
              <a:rPr lang="en-US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the impact of assigning different weights to various admission criteria on students' academic performance. Analyze how emphasizing certain criteria affects the overall success of the admitted students.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00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8277-DE23-4477-366B-0F8DF5C90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080" y="555139"/>
            <a:ext cx="8520400" cy="770400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0CD07-AB55-4457-194A-B2465B755ECD}"/>
              </a:ext>
            </a:extLst>
          </p:cNvPr>
          <p:cNvSpPr txBox="1"/>
          <p:nvPr/>
        </p:nvSpPr>
        <p:spPr>
          <a:xfrm>
            <a:off x="1013553" y="1762699"/>
            <a:ext cx="101648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Neural Network:</a:t>
            </a:r>
            <a:r>
              <a:rPr lang="en-IN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neural network is a method in artificial intelligence that teaches computers to process data in way that is inspired by the human brain.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Vector Machine: </a:t>
            </a:r>
            <a:r>
              <a:rPr lang="en-IN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type of supervised learning algorithm used in machine learning to solve classification and regression tasks.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Tree: </a:t>
            </a:r>
            <a:r>
              <a:rPr lang="en-IN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tree like structure that represents a series of decisions and their possible consequences.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Naïve Bayes</a:t>
            </a:r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Classifies data based on probabilities using a simplified Bayes' theorem approach. Efficient for large  datasets.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 Boosting</a:t>
            </a:r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Combines multiple weak decision trees into a stronger model through sequential learning. Effective for improving model accuracy over a single decision tree.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2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5FC5-B6BE-1FCA-3AA6-465979F05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techniques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979B9-3D84-BDA2-78A1-19B94702FE46}"/>
              </a:ext>
            </a:extLst>
          </p:cNvPr>
          <p:cNvSpPr txBox="1"/>
          <p:nvPr/>
        </p:nvSpPr>
        <p:spPr>
          <a:xfrm>
            <a:off x="1223684" y="1479177"/>
            <a:ext cx="1031389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K-Nearest Neighbors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Classifies data points based on the similarity to their k nearest neighbors in the training data. Simple to implement.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Forest: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learning method that combines multiple decision trees for improved performance and addressing overfitting issues. </a:t>
            </a:r>
          </a:p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model used for binary classification problems. Estimates the probability of an outcome based on independent variables.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91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80F27AB1-B64D-770A-ABF6-245CF8342B2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384077" y="473725"/>
            <a:ext cx="4320400" cy="632275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</a:rPr>
              <a:t>Output: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7AE8E9-C5EA-8BBC-1428-F7A5CAC777B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02652" y="0"/>
            <a:ext cx="4320400" cy="1106000"/>
          </a:xfrm>
        </p:spPr>
        <p:txBody>
          <a:bodyPr/>
          <a:lstStyle/>
          <a:p>
            <a:endParaRPr lang="en-IN" sz="3200" dirty="0">
              <a:solidFill>
                <a:srgbClr val="C00000"/>
              </a:solidFill>
            </a:endParaRPr>
          </a:p>
          <a:p>
            <a:r>
              <a:rPr lang="en-IN" sz="3200" dirty="0">
                <a:solidFill>
                  <a:srgbClr val="C00000"/>
                </a:solidFill>
              </a:rPr>
              <a:t>Input attributes: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4C657C60-04E9-E70C-B769-E367B9763155}"/>
              </a:ext>
            </a:extLst>
          </p:cNvPr>
          <p:cNvSpPr/>
          <p:nvPr/>
        </p:nvSpPr>
        <p:spPr>
          <a:xfrm>
            <a:off x="718628" y="1636895"/>
            <a:ext cx="5114925" cy="2771123"/>
          </a:xfrm>
          <a:prstGeom prst="homePlate">
            <a:avLst/>
          </a:prstGeom>
          <a:solidFill>
            <a:schemeClr val="tx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School Grade Average(HSGA)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Scholastic Achievement Admission Test(SAAT)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Aptitude Test(GAT)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B8D5ED-84BF-0C09-D20D-6806BFFF646D}"/>
              </a:ext>
            </a:extLst>
          </p:cNvPr>
          <p:cNvSpPr/>
          <p:nvPr/>
        </p:nvSpPr>
        <p:spPr>
          <a:xfrm>
            <a:off x="6301649" y="1636895"/>
            <a:ext cx="5114925" cy="2613962"/>
          </a:xfrm>
          <a:prstGeom prst="ellipse">
            <a:avLst/>
          </a:prstGeom>
          <a:solidFill>
            <a:schemeClr val="tx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year CGPA</a:t>
            </a:r>
          </a:p>
        </p:txBody>
      </p:sp>
    </p:spTree>
    <p:extLst>
      <p:ext uri="{BB962C8B-B14F-4D97-AF65-F5344CB8AC3E}">
        <p14:creationId xmlns:p14="http://schemas.microsoft.com/office/powerpoint/2010/main" val="147033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01B5-452C-3C6D-8E3A-B1B1BD6CE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800" y="689609"/>
            <a:ext cx="8520400" cy="770400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312DF-DA94-2CB5-A261-F54D4BD058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t="15885" r="27642" b="28519"/>
          <a:stretch/>
        </p:blipFill>
        <p:spPr bwMode="auto">
          <a:xfrm>
            <a:off x="1835800" y="2057623"/>
            <a:ext cx="4260200" cy="28774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855486-E418-8FE0-9A3F-2C41AEA71D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3" t="30803" r="41939" b="17900"/>
          <a:stretch/>
        </p:blipFill>
        <p:spPr bwMode="auto">
          <a:xfrm>
            <a:off x="6619859" y="2057623"/>
            <a:ext cx="4260199" cy="27295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2781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AC11-91D2-F89A-00A9-D06465199A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E1E6E-8BBF-7E55-5562-8209A48C64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16" t="18371" r="33212"/>
          <a:stretch/>
        </p:blipFill>
        <p:spPr>
          <a:xfrm>
            <a:off x="290946" y="1325539"/>
            <a:ext cx="4239491" cy="53519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F4FE10-C56F-3B06-CFA1-D6A2D7BCA1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8" t="24944" r="1476"/>
          <a:stretch/>
        </p:blipFill>
        <p:spPr>
          <a:xfrm>
            <a:off x="4918362" y="1563314"/>
            <a:ext cx="6506855" cy="487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83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D81F-2255-B24A-5D04-EF7083AC5C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4C57C-0AD0-2F43-91F9-A921E2E9CEC0}"/>
              </a:ext>
            </a:extLst>
          </p:cNvPr>
          <p:cNvSpPr txBox="1"/>
          <p:nvPr/>
        </p:nvSpPr>
        <p:spPr>
          <a:xfrm>
            <a:off x="1532966" y="1627094"/>
            <a:ext cx="9215162" cy="2247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study explored the potential of leveraging predictive data mining techniques to enhance university admissions processes. We evaluated eight distinct machine learning models for their effectiveness in predicting student CGPA. </a:t>
            </a:r>
            <a:endParaRPr lang="en-IN" dirty="0">
              <a:solidFill>
                <a:schemeClr val="tx1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conclusion, this investigation demonstrates the potential of data mining for enhancing university admissions. While Logistic Regression showcases impressive performance, </a:t>
            </a:r>
            <a:endParaRPr lang="en-IN" dirty="0">
              <a:solidFill>
                <a:schemeClr val="tx1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27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06C9-F26D-46CA-93BF-8C27012F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9025F-68D1-4F50-8480-3F981455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25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Economic Impact of Coronavirus by Slidesgo">
  <a:themeElements>
    <a:clrScheme name="Simple Light">
      <a:dk1>
        <a:srgbClr val="FCFCFC"/>
      </a:dk1>
      <a:lt1>
        <a:srgbClr val="112349"/>
      </a:lt1>
      <a:dk2>
        <a:srgbClr val="253B61"/>
      </a:dk2>
      <a:lt2>
        <a:srgbClr val="EF4349"/>
      </a:lt2>
      <a:accent1>
        <a:srgbClr val="F3797E"/>
      </a:accent1>
      <a:accent2>
        <a:srgbClr val="FCFCFC"/>
      </a:accent2>
      <a:accent3>
        <a:srgbClr val="F3797E"/>
      </a:accent3>
      <a:accent4>
        <a:srgbClr val="EF4349"/>
      </a:accent4>
      <a:accent5>
        <a:srgbClr val="253B61"/>
      </a:accent5>
      <a:accent6>
        <a:srgbClr val="112349"/>
      </a:accent6>
      <a:hlink>
        <a:srgbClr val="FCFC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2528</TotalTime>
  <Words>660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Arial</vt:lpstr>
      <vt:lpstr>Avenir Next LT Pro</vt:lpstr>
      <vt:lpstr>Bebas Neue</vt:lpstr>
      <vt:lpstr>Calibri</vt:lpstr>
      <vt:lpstr>Fjalla One</vt:lpstr>
      <vt:lpstr>Josefin Sans</vt:lpstr>
      <vt:lpstr>Josefin Slab</vt:lpstr>
      <vt:lpstr>Söhne</vt:lpstr>
      <vt:lpstr>Spartan</vt:lpstr>
      <vt:lpstr>Spartan Medium</vt:lpstr>
      <vt:lpstr>Staatliches</vt:lpstr>
      <vt:lpstr>Times New Roman</vt:lpstr>
      <vt:lpstr>Tw Cen MT</vt:lpstr>
      <vt:lpstr>Wingdings</vt:lpstr>
      <vt:lpstr>Economic Impact of Coronavirus by Slidesgo</vt:lpstr>
      <vt:lpstr>ShapesVTI</vt:lpstr>
      <vt:lpstr>A MAJOR PROJECT PRESENTATION ON STUDENT PERFORMANCE PREDICTION APPRAOCH BASED ON EDUCATIONAL DATA MINING   </vt:lpstr>
      <vt:lpstr>PowerPoint Presentation</vt:lpstr>
      <vt:lpstr>PowerPoint Presentation</vt:lpstr>
      <vt:lpstr>MODULES  AND  FUNCTioNALITIES</vt:lpstr>
      <vt:lpstr>Modules and functionalities</vt:lpstr>
      <vt:lpstr>techniques</vt:lpstr>
      <vt:lpstr>techniques</vt:lpstr>
      <vt:lpstr>PowerPoint Presentation</vt:lpstr>
      <vt:lpstr>RESULTS</vt:lpstr>
      <vt:lpstr>results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 Preetham Bandi</dc:creator>
  <cp:lastModifiedBy>Akshaya Bale</cp:lastModifiedBy>
  <cp:revision>36</cp:revision>
  <dcterms:created xsi:type="dcterms:W3CDTF">2022-09-22T13:46:47Z</dcterms:created>
  <dcterms:modified xsi:type="dcterms:W3CDTF">2024-10-24T15:28:58Z</dcterms:modified>
</cp:coreProperties>
</file>